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Playfair Display" pitchFamily="2" charset="77"/>
      <p:regular r:id="rId10"/>
      <p:bold r:id="rId11"/>
      <p:italic r:id="rId12"/>
      <p:boldItalic r:id="rId13"/>
    </p:embeddedFont>
    <p:embeddedFont>
      <p:font typeface="Poppins" pitchFamily="2" charset="77"/>
      <p:regular r:id="rId14"/>
      <p:bold r:id="rId15"/>
      <p:italic r:id="rId16"/>
      <p:boldItalic r:id="rId17"/>
    </p:embeddedFont>
    <p:embeddedFont>
      <p:font typeface="Poppins Light" panose="00000400000000000000" pitchFamily="2" charset="77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67"/>
  </p:normalViewPr>
  <p:slideViewPr>
    <p:cSldViewPr snapToGrid="0">
      <p:cViewPr varScale="1">
        <p:scale>
          <a:sx n="110" d="100"/>
          <a:sy n="110" d="100"/>
        </p:scale>
        <p:origin x="56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00175" y="414337"/>
            <a:ext cx="9391650" cy="60293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185511" y="1533525"/>
            <a:ext cx="7820977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INTERNATIONAL INNOVATION </a:t>
            </a:r>
            <a:r>
              <a:rPr lang="en-US" sz="4800" b="1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CHALLENGE </a:t>
            </a:r>
            <a:r>
              <a:rPr lang="en-US" sz="4800" b="1" dirty="0">
                <a:solidFill>
                  <a:srgbClr val="F2EEFA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3.0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471987" y="4005262"/>
            <a:ext cx="3676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Theme: Aerotech &amp; Aerospace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4471987" y="4557712"/>
            <a:ext cx="3676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Idea Title: FIRST LIGHT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4471987" y="5110162"/>
            <a:ext cx="3676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Team ALPHA</a:t>
            </a:r>
            <a:endParaRPr dirty="0"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43362" y="40338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43362" y="458628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43362" y="51387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E7922C-D65A-4A22-8F20-6A8FB0158D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2323" y="588918"/>
            <a:ext cx="2844187" cy="8731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3A44B1-CD48-B725-0E2D-7F4DFB4556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1713" y="588918"/>
            <a:ext cx="1877963" cy="972367"/>
          </a:xfrm>
          <a:prstGeom prst="rect">
            <a:avLst/>
          </a:prstGeom>
        </p:spPr>
      </p:pic>
      <p:sp>
        <p:nvSpPr>
          <p:cNvPr id="7" name="Google Shape;111;p14">
            <a:extLst>
              <a:ext uri="{FF2B5EF4-FFF2-40B4-BE49-F238E27FC236}">
                <a16:creationId xmlns:a16="http://schemas.microsoft.com/office/drawing/2014/main" id="{B0B7FDCA-5857-D492-02A9-B3CA0036752A}"/>
              </a:ext>
            </a:extLst>
          </p:cNvPr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A7427FBB-6B82-28C2-C807-6A3DF49A1F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73E524B-A1B2-0008-AF1C-66E70946F0B4}"/>
              </a:ext>
            </a:extLst>
          </p:cNvPr>
          <p:cNvGrpSpPr/>
          <p:nvPr/>
        </p:nvGrpSpPr>
        <p:grpSpPr>
          <a:xfrm>
            <a:off x="571500" y="2658491"/>
            <a:ext cx="10977715" cy="380873"/>
            <a:chOff x="571500" y="2719451"/>
            <a:chExt cx="10977715" cy="380873"/>
          </a:xfrm>
        </p:grpSpPr>
        <p:sp>
          <p:nvSpPr>
            <p:cNvPr id="100" name="Google Shape;100;p14"/>
            <p:cNvSpPr txBox="1"/>
            <p:nvPr/>
          </p:nvSpPr>
          <p:spPr>
            <a:xfrm>
              <a:off x="928840" y="2719451"/>
              <a:ext cx="10620375" cy="380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PCC: AI maneuvers proven safe before executing</a:t>
              </a:r>
              <a:endParaRPr dirty="0"/>
            </a:p>
          </p:txBody>
        </p:sp>
        <p:pic>
          <p:nvPicPr>
            <p:cNvPr id="105" name="Google Shape;105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2819400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BDCEEF2-B973-65CB-4419-90818D61867D}"/>
              </a:ext>
            </a:extLst>
          </p:cNvPr>
          <p:cNvGrpSpPr/>
          <p:nvPr/>
        </p:nvGrpSpPr>
        <p:grpSpPr>
          <a:xfrm>
            <a:off x="571500" y="3188813"/>
            <a:ext cx="5238750" cy="314325"/>
            <a:chOff x="571500" y="3657600"/>
            <a:chExt cx="5238750" cy="314325"/>
          </a:xfrm>
        </p:grpSpPr>
        <p:sp>
          <p:nvSpPr>
            <p:cNvPr id="101" name="Google Shape;101;p14"/>
            <p:cNvSpPr txBox="1"/>
            <p:nvPr/>
          </p:nvSpPr>
          <p:spPr>
            <a:xfrm>
              <a:off x="1000125" y="36576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5-agent pipeline, fully automated</a:t>
              </a:r>
              <a:endParaRPr dirty="0"/>
            </a:p>
          </p:txBody>
        </p:sp>
        <p:pic>
          <p:nvPicPr>
            <p:cNvPr id="106" name="Google Shape;106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36861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76B38BC-4A69-5F43-A0F5-137CD55E4FA8}"/>
              </a:ext>
            </a:extLst>
          </p:cNvPr>
          <p:cNvGrpSpPr/>
          <p:nvPr/>
        </p:nvGrpSpPr>
        <p:grpSpPr>
          <a:xfrm>
            <a:off x="571500" y="3741263"/>
            <a:ext cx="5238750" cy="314325"/>
            <a:chOff x="571500" y="4210050"/>
            <a:chExt cx="5238750" cy="314325"/>
          </a:xfrm>
        </p:grpSpPr>
        <p:sp>
          <p:nvSpPr>
            <p:cNvPr id="102" name="Google Shape;102;p14"/>
            <p:cNvSpPr txBox="1"/>
            <p:nvPr/>
          </p:nvSpPr>
          <p:spPr>
            <a:xfrm>
              <a:off x="1000125" y="421005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No blind trust — every command needs proof</a:t>
              </a:r>
              <a:endParaRPr dirty="0"/>
            </a:p>
          </p:txBody>
        </p:sp>
        <p:pic>
          <p:nvPicPr>
            <p:cNvPr id="107" name="Google Shape;107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23862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F6956BC-D0DD-126D-0DC6-421091A25E5A}"/>
              </a:ext>
            </a:extLst>
          </p:cNvPr>
          <p:cNvGrpSpPr/>
          <p:nvPr/>
        </p:nvGrpSpPr>
        <p:grpSpPr>
          <a:xfrm>
            <a:off x="571500" y="4293713"/>
            <a:ext cx="5238750" cy="314325"/>
            <a:chOff x="571500" y="4762500"/>
            <a:chExt cx="5238750" cy="314325"/>
          </a:xfrm>
        </p:grpSpPr>
        <p:sp>
          <p:nvSpPr>
            <p:cNvPr id="103" name="Google Shape;103;p14"/>
            <p:cNvSpPr txBox="1"/>
            <p:nvPr/>
          </p:nvSpPr>
          <p:spPr>
            <a:xfrm>
              <a:off x="1000125" y="47625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Live audit trail + adversarial Attack Library</a:t>
              </a:r>
              <a:endParaRPr dirty="0"/>
            </a:p>
          </p:txBody>
        </p:sp>
        <p:pic>
          <p:nvPicPr>
            <p:cNvPr id="108" name="Google Shape;108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7910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p14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IDEA TITLE</a:t>
            </a:r>
            <a:endParaRPr dirty="0"/>
          </a:p>
        </p:txBody>
      </p:sp>
      <p:sp>
        <p:nvSpPr>
          <p:cNvPr id="110" name="Google Shape;110;p1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D6A019-74ED-9001-54F2-BCA9F7EF5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B18FF61-1857-DD5F-D4B4-32B1030BFE8C}"/>
              </a:ext>
            </a:extLst>
          </p:cNvPr>
          <p:cNvGrpSpPr/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2" name="Google Shape;84;p13" descr="image.png">
              <a:extLst>
                <a:ext uri="{FF2B5EF4-FFF2-40B4-BE49-F238E27FC236}">
                  <a16:creationId xmlns:a16="http://schemas.microsoft.com/office/drawing/2014/main" id="{1AED31AE-ABCF-23A6-5C8B-83D0AC31EAE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Google Shape;98;p14" descr="image.png">
              <a:extLst>
                <a:ext uri="{FF2B5EF4-FFF2-40B4-BE49-F238E27FC236}">
                  <a16:creationId xmlns:a16="http://schemas.microsoft.com/office/drawing/2014/main" id="{1F32D93C-7343-8AF4-F453-702DCD511F7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86100"/>
            <a:ext cx="5238750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086100"/>
            <a:ext cx="5238750" cy="19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850582" y="3476625"/>
            <a:ext cx="468058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Technologies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962025" y="401955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FastAPI + SQLite backend, Claude (Anthropic) for mission planning, Z3 SMT solver for formal proofs, WebSocket real-time telemetry, SGP4 orbit propagation, browser-based mission control UI</a:t>
            </a: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6660832" y="3476625"/>
            <a:ext cx="468058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Methodology</a:t>
            </a:r>
            <a:endParaRPr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6772275" y="401955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Planner → Dynamics → Safety → Proof Generator → Reviewer pipeline; every step's latency, confidence, and reasoning is genuinely computed and hash-chained into a tamper-evident audit trail</a:t>
            </a:r>
            <a:endParaRPr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TECHNICAL APPROACH</a:t>
            </a:r>
            <a:endParaRPr dirty="0"/>
          </a:p>
        </p:txBody>
      </p:sp>
      <p:sp>
        <p:nvSpPr>
          <p:cNvPr id="124" name="Google Shape;124;p15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4E2B5A-0D8D-0AB1-E15B-5102336B75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D9BBD4A-0CA1-32F3-26D6-3379A9124AC1}"/>
              </a:ext>
            </a:extLst>
          </p:cNvPr>
          <p:cNvGrpSpPr/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2" name="Google Shape;84;p13" descr="image.png">
              <a:extLst>
                <a:ext uri="{FF2B5EF4-FFF2-40B4-BE49-F238E27FC236}">
                  <a16:creationId xmlns:a16="http://schemas.microsoft.com/office/drawing/2014/main" id="{E85BF679-52A2-A2B8-04BF-1A2CCF31193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Google Shape;98;p14" descr="image.png">
              <a:extLst>
                <a:ext uri="{FF2B5EF4-FFF2-40B4-BE49-F238E27FC236}">
                  <a16:creationId xmlns:a16="http://schemas.microsoft.com/office/drawing/2014/main" id="{6A9C8AA2-5CCF-3436-C5FD-C0ADC42FFDE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847975"/>
            <a:ext cx="34290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81500" y="2847975"/>
            <a:ext cx="34290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847975"/>
            <a:ext cx="34290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5500" y="3238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1720929" y="3810000"/>
            <a:ext cx="113014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BE69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Feasibility</a:t>
            </a:r>
            <a:endParaRPr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866775" y="4257675"/>
            <a:ext cx="2838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Working end-to-end prototype: real LLM calls, real Z3 proofs, real digital-twin telemetry — 157 automated tests passing against the live backend</a:t>
            </a:r>
            <a:endParaRPr dirty="0"/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500" y="3238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490924" y="3810000"/>
            <a:ext cx="121015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BE69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Challenges</a:t>
            </a:r>
            <a:endParaRPr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4776787" y="4257675"/>
            <a:ext cx="2638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LLM proposal latency (~3s) vs. real-time flight timing; integrating with certified flight software (NASA cFS)</a:t>
            </a:r>
            <a:endParaRPr dirty="0"/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39312" y="323850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9360931" y="3810000"/>
            <a:ext cx="109013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BE69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Strategies</a:t>
            </a:r>
            <a:endParaRPr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8486775" y="4257675"/>
            <a:ext cx="2838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Deterministic fallback verifier decoupled from LLM latency; phased NASA cFS integration via the existing interface layer; proof caching for repeat maneuvers</a:t>
            </a:r>
            <a:endParaRPr dirty="0"/>
          </a:p>
        </p:txBody>
      </p:sp>
      <p:sp>
        <p:nvSpPr>
          <p:cNvPr id="143" name="Google Shape;143;p16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FEASIBILITY AND VIABILITY</a:t>
            </a:r>
            <a:endParaRPr dirty="0"/>
          </a:p>
        </p:txBody>
      </p:sp>
      <p:sp>
        <p:nvSpPr>
          <p:cNvPr id="144" name="Google Shape;144;p16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11687175" y="6467475"/>
            <a:ext cx="2190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539AD2-9821-3F8D-A3D6-35A48800DB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382BC47-C1E8-211A-F7F3-99B987C7EA8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3" name="Google Shape;84;p13" descr="image.png">
              <a:extLst>
                <a:ext uri="{FF2B5EF4-FFF2-40B4-BE49-F238E27FC236}">
                  <a16:creationId xmlns:a16="http://schemas.microsoft.com/office/drawing/2014/main" id="{C50263B4-4851-C499-7453-724CE8EF500B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98;p14" descr="image.png">
              <a:extLst>
                <a:ext uri="{FF2B5EF4-FFF2-40B4-BE49-F238E27FC236}">
                  <a16:creationId xmlns:a16="http://schemas.microsoft.com/office/drawing/2014/main" id="{0ED84BD7-0591-5A0E-6A51-006CBA369A9B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7"/>
          <p:cNvSpPr txBox="1"/>
          <p:nvPr/>
        </p:nvSpPr>
        <p:spPr>
          <a:xfrm>
            <a:off x="1000125" y="1683172"/>
            <a:ext cx="46196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Safer autonomy for CubeSats &amp; small-sats</a:t>
            </a:r>
            <a:endParaRPr dirty="0"/>
          </a:p>
        </p:txBody>
      </p:sp>
      <p:sp>
        <p:nvSpPr>
          <p:cNvPr id="155" name="Google Shape;155;p17"/>
          <p:cNvSpPr txBox="1"/>
          <p:nvPr/>
        </p:nvSpPr>
        <p:spPr>
          <a:xfrm>
            <a:off x="957415" y="2197585"/>
            <a:ext cx="886523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Safety, reusable science, lower mission risk</a:t>
            </a:r>
            <a:endParaRPr dirty="0"/>
          </a:p>
        </p:txBody>
      </p:sp>
      <p:pic>
        <p:nvPicPr>
          <p:cNvPr id="156" name="Google Shape;15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71174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26419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1180147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Google Shape;143;p16">
            <a:extLst>
              <a:ext uri="{FF2B5EF4-FFF2-40B4-BE49-F238E27FC236}">
                <a16:creationId xmlns:a16="http://schemas.microsoft.com/office/drawing/2014/main" id="{3CAF39FC-C49D-1484-968C-D8CC6B6281EE}"/>
              </a:ext>
            </a:extLst>
          </p:cNvPr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IMPACT AND BENEFITS</a:t>
            </a:r>
            <a:endParaRPr dirty="0"/>
          </a:p>
        </p:txBody>
      </p:sp>
      <p:sp>
        <p:nvSpPr>
          <p:cNvPr id="6" name="Google Shape;144;p16">
            <a:extLst>
              <a:ext uri="{FF2B5EF4-FFF2-40B4-BE49-F238E27FC236}">
                <a16:creationId xmlns:a16="http://schemas.microsoft.com/office/drawing/2014/main" id="{FDB0C6B6-D604-F5FA-8C1F-20E675C8EE7E}"/>
              </a:ext>
            </a:extLst>
          </p:cNvPr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3EAE13-7287-2B9A-1824-778F4241D5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816A02-64BD-FBFB-2E8F-FE68591AE81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3" name="Google Shape;84;p13" descr="image.png">
              <a:extLst>
                <a:ext uri="{FF2B5EF4-FFF2-40B4-BE49-F238E27FC236}">
                  <a16:creationId xmlns:a16="http://schemas.microsoft.com/office/drawing/2014/main" id="{0FC4E61E-2819-88A1-4D2E-25F6C534E60D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98;p14" descr="image.png">
              <a:extLst>
                <a:ext uri="{FF2B5EF4-FFF2-40B4-BE49-F238E27FC236}">
                  <a16:creationId xmlns:a16="http://schemas.microsoft.com/office/drawing/2014/main" id="{062BE52A-6744-24D5-7827-BF7ABFAE66D8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4" name="Google Shape;16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4735" y="1661038"/>
            <a:ext cx="10491634" cy="480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571500" y="682747"/>
            <a:ext cx="929116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3600" b="1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</a:defRPr>
            </a:lvl1pPr>
          </a:lstStyle>
          <a:p>
            <a:r>
              <a:rPr lang="en-US" dirty="0">
                <a:sym typeface="Playfair Display"/>
              </a:rPr>
              <a:t>RESEARCH AND REFERENCES</a:t>
            </a:r>
            <a:endParaRPr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E1C9CA6-2431-0A69-98BB-5E30EED6A492}"/>
              </a:ext>
            </a:extLst>
          </p:cNvPr>
          <p:cNvGrpSpPr/>
          <p:nvPr/>
        </p:nvGrpSpPr>
        <p:grpSpPr>
          <a:xfrm>
            <a:off x="2306177" y="3813418"/>
            <a:ext cx="9058150" cy="1200000"/>
            <a:chOff x="2168525" y="4214995"/>
            <a:chExt cx="9058150" cy="1200000"/>
          </a:xfrm>
        </p:grpSpPr>
        <p:sp>
          <p:nvSpPr>
            <p:cNvPr id="168" name="Google Shape;168;p18"/>
            <p:cNvSpPr txBox="1"/>
            <p:nvPr/>
          </p:nvSpPr>
          <p:spPr>
            <a:xfrm>
              <a:off x="2168525" y="4214995"/>
              <a:ext cx="9058150" cy="120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2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cap="none" dirty="0">
                  <a:solidFill>
                    <a:srgbClr val="F2EEFA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AFRL STARS Runtime Assurance for spacecraft attitude control — Black et al., arXiv:2402.14723</a:t>
              </a:r>
              <a:endParaRPr dirty="0"/>
            </a:p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cap="none" dirty="0">
                  <a:solidFill>
                    <a:srgbClr val="F2EEFA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Watchdogs and Oracles: runtime verification for LLM-driven autonomy — arXiv:2511.14435</a:t>
              </a:r>
              <a:endParaRPr dirty="0"/>
            </a:p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cap="none" dirty="0">
                  <a:solidFill>
                    <a:srgbClr val="F2EEFA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Glass Box at Orbit: constitutional AI verification for CubeSat autonomy — arXiv:2606.02967</a:t>
              </a:r>
              <a:endParaRPr dirty="0"/>
            </a:p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cap="none" dirty="0">
                  <a:solidFill>
                    <a:srgbClr val="F2EEFA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NASA Core Flight System (cFS) — open-source flight software reference architecture, cfs.gsfc.nasa.gov</a:t>
              </a:r>
              <a:endParaRPr dirty="0"/>
            </a:p>
          </p:txBody>
        </p:sp>
        <p:pic>
          <p:nvPicPr>
            <p:cNvPr id="169" name="Google Shape;169;p18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169920" y="4361850"/>
              <a:ext cx="285750" cy="228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" name="Google Shape;170;p18"/>
          <p:cNvSpPr txBox="1"/>
          <p:nvPr/>
        </p:nvSpPr>
        <p:spPr>
          <a:xfrm>
            <a:off x="11696700" y="6467475"/>
            <a:ext cx="2095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B84B2B-35C3-CD70-ED94-211E6AF95D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3919" y="141850"/>
            <a:ext cx="2259114" cy="1169718"/>
          </a:xfrm>
          <a:prstGeom prst="rect">
            <a:avLst/>
          </a:prstGeom>
        </p:spPr>
      </p:pic>
      <p:sp>
        <p:nvSpPr>
          <p:cNvPr id="6" name="Google Shape;144;p16">
            <a:extLst>
              <a:ext uri="{FF2B5EF4-FFF2-40B4-BE49-F238E27FC236}">
                <a16:creationId xmlns:a16="http://schemas.microsoft.com/office/drawing/2014/main" id="{D7515F0B-1E18-86AF-90B0-D093B0E72B20}"/>
              </a:ext>
            </a:extLst>
          </p:cNvPr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188</Words>
  <Application>Microsoft Macintosh PowerPoint</Application>
  <PresentationFormat>Widescreen</PresentationFormat>
  <Paragraphs>38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Poppins Light</vt:lpstr>
      <vt:lpstr>Times New Roman</vt:lpstr>
      <vt:lpstr>Playfair Display</vt:lpstr>
      <vt:lpstr>Arial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Keshav Anand [CCE - 2024]</cp:lastModifiedBy>
  <cp:revision>9</cp:revision>
  <dcterms:modified xsi:type="dcterms:W3CDTF">2026-07-06T08:50:05Z</dcterms:modified>
</cp:coreProperties>
</file>